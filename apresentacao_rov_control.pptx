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6675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SISTEMAS DISTRIBUÍDOS · ROV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685800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111111"/>
                </a:solidFill>
                <a:latin typeface="Open Sans"/>
              </a:rPr>
              <a:t>Controle remoto,
sem perder o controle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594360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5F6368"/>
                </a:solidFill>
                <a:latin typeface="Open Sans"/>
              </a:rPr>
              <a:t>Simular os componentes de um sistema completo de controle de veículos operados remotamente — com baixa latência, autenticação e tolerância a falhas.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685800"/>
            <a:ext cx="3886200" cy="1207008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98664" y="804672"/>
            <a:ext cx="3593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ORIGEM DO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98664" y="1197864"/>
            <a:ext cx="3593592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A ideia nasce da experiência de Fernando na OceanPact, desenvolvendo funcionalidades ligadas ao controle desses dispositivos.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103120"/>
            <a:ext cx="388620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98664" y="2221991"/>
            <a:ext cx="3593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086B3"/>
                </a:solidFill>
                <a:latin typeface="Open Sans"/>
              </a:rPr>
              <a:t>O QUE É UM ROV?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8664" y="2615184"/>
            <a:ext cx="359359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Um robô móvel operado à distância. Neste projeto: um veículo submarino para inspeção, pesquisa e apoio à exploração offshore de petróleo.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749039"/>
            <a:ext cx="3886200" cy="16276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98664" y="3867911"/>
            <a:ext cx="3593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6518"/>
                </a:solidFill>
                <a:latin typeface="Open Sans"/>
              </a:rPr>
              <a:t>A ANALOGIA COM MARTE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8664" y="4261104"/>
            <a:ext cx="3593592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Curiosity e Perseverance são rovers robóticos, mas não ROVs em teleoperação contínua: a distância impede controle em tempo real. A Terra envia planos; a autonomia local executa e evita obstáculos.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00600"/>
            <a:ext cx="1828800" cy="310896"/>
          </a:xfrm>
          <a:prstGeom prst="roundRect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9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PILOTO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4956048"/>
            <a:ext cx="1353311" cy="0"/>
          </a:xfrm>
          <a:prstGeom prst="line">
            <a:avLst/>
          </a:prstGeom>
          <a:ln w="29209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4800600"/>
            <a:ext cx="1828800" cy="310896"/>
          </a:xfrm>
          <a:prstGeom prst="roundRect">
            <a:avLst/>
          </a:prstGeom>
          <a:solidFill>
            <a:srgbClr val="008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4809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RELAY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4956048"/>
            <a:ext cx="1353312" cy="0"/>
          </a:xfrm>
          <a:prstGeom prst="line">
            <a:avLst/>
          </a:prstGeom>
          <a:ln w="29209">
            <a:solidFill>
              <a:srgbClr val="008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40880" y="4800600"/>
            <a:ext cx="1828800" cy="310896"/>
          </a:xfrm>
          <a:prstGeom prst="roundRect">
            <a:avLst/>
          </a:prstGeom>
          <a:solidFill>
            <a:srgbClr val="267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48097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ROV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50992"/>
            <a:ext cx="827532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Open Sans"/>
              </a:rPr>
              <a:t>DESAFIO  →  reproduzir comunicação, concorrência, segurança e recuperação de falhas em uma única simulação.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Fontes: README.md; NASA/JPL — How Perseverance Drives on Mars; NASA — AI-Planned Drive (teleoperação em tempo real é inviável).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O sistema: três papéis, cinco nós 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Todos iniciam tráfego em direção ao relay conhecido; isso contorna NAT/firewall.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280160"/>
            <a:ext cx="333756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399031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PILOTO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792224"/>
            <a:ext cx="304495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Autentica-se, solicita posse e envia comandos. Um piloto pode escolher entre vários ROVs — nesta demo, cada instância aponta para um alvo.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280160"/>
            <a:ext cx="333756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399031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086B3"/>
                </a:solidFill>
                <a:latin typeface="Open Sans"/>
              </a:rPr>
              <a:t>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792224"/>
            <a:ext cx="304495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Ponto de encontro e roteador: mantém sessões, autentica, arbitra exclusão mútua e encaminha comandos/telemetria.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280160"/>
            <a:ext cx="333756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399031"/>
            <a:ext cx="304495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ROV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792224"/>
            <a:ext cx="304495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Registra-se, aplica comandos e publica bateria, profundidade, temperatura e potência do thruster.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1984248"/>
            <a:ext cx="457200" cy="0"/>
          </a:xfrm>
          <a:prstGeom prst="line">
            <a:avLst/>
          </a:prstGeom>
          <a:ln w="2540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44968" y="1984248"/>
            <a:ext cx="457200" cy="0"/>
          </a:xfrm>
          <a:prstGeom prst="line">
            <a:avLst/>
          </a:prstGeom>
          <a:ln w="25400">
            <a:solidFill>
              <a:srgbClr val="008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0175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67E4F"/>
                </a:solidFill>
                <a:latin typeface="Open Sans"/>
              </a:rPr>
              <a:t>REQUISITOS COBERTOS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383280"/>
            <a:ext cx="5349240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Vários pilotos e ROVs por relay; 1 piloto por ROV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Comandos confiáveis; telemetria periódica pode perder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Autenticação antes da concessão de controle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Relay primário + backup, replicação e failover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Heartbeat, detecção de falhas e preservação da posse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Execução local em processos ou threads, sempre por UDP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B12D2D"/>
                </a:solidFill>
                <a:latin typeface="Open Sans"/>
              </a:rPr>
              <a:t>FORA DO ESCOPO / LIMITAÇÕES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3383280"/>
            <a:ext cx="5303520" cy="2487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Relay geograficamente distribuído, consenso e eleição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QUIC padrão: TLS 1.3, congestion control, 0-RTT, migração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Streaming de vídeo real (apenas a necessidade é modelada)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Banco de identidade seguro; credenciais estão em memória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Criptografia/confidencialidade do tráfego de aplicação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Failback automático ao primário recuperado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relay_server.py, pilot_client.py, rov_simulator.py, run_demo.py e demo_dashboard.py.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Transporte: por que não ficar só com TCP ou UDP?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Delay é crítico para comando e vídeo; cada classe de mensagem pede uma garantia diferente.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353312"/>
            <a:ext cx="3163824" cy="418795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72184"/>
            <a:ext cx="2871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65376"/>
            <a:ext cx="2871216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✓ Entrega e ordem
✓ Retransmissão
✓ Conexão via 3-way handshake
+ TLS exige handshake adicional
✕ Head-of-line: uma perda bloqueia os bytes seguintes
✕ Mais latência para dados perecíveis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1353312"/>
            <a:ext cx="3163824" cy="418795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C4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472184"/>
            <a:ext cx="2871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6518"/>
                </a:solidFill>
                <a:latin typeface="Open Sans"/>
              </a:rPr>
              <a:t>UDP PURO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865376"/>
            <a:ext cx="2871216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✓ Sem conexão
✓ Cabeçalho pequeno
✓ Baixa latência
✕ Sem entrega garantida
✕ Sem ordem
✕ Sem autenticação/criptografia embutidas
✕ Aplicação resolve o que precisar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4696" y="1353312"/>
            <a:ext cx="3163824" cy="418795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26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472184"/>
            <a:ext cx="2871216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QUIC-LITE DO 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65376"/>
            <a:ext cx="2871216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✓ UDP real
✓ Canal confiável e ordenado
✓ Canal “último valor vence”
✓ Fluxos independentes
✕ Não é QUIC padrão
✕ Sem TLS/congestion control
✕ Garantias didáticas, não industriais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97296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Open Sans"/>
              </a:rPr>
              <a:t>DECISÃO  →  confiabilidade seletiva: proteger controle e autenticação sem fazer telemetria/vídeo antigo atrasar informação nova.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quiclite.py. Observação: QUIC real usa UDP, TLS 1.3 e múltiplos streams; esta implementação reproduz apenas parte das ideias.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Head-of-line blocking: a perda não pode parar tudo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280160"/>
            <a:ext cx="5257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59A0"/>
                </a:solidFill>
                <a:latin typeface="Open Sans"/>
              </a:rPr>
              <a:t>TCP · UM FLUXO ORDENADO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859536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93391"/>
            <a:ext cx="56692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CMD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7632" y="1874519"/>
            <a:ext cx="859536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3936" y="1993391"/>
            <a:ext cx="56692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TEL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15184" y="1874519"/>
            <a:ext cx="859536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993391"/>
            <a:ext cx="56692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12D2D"/>
                </a:solidFill>
                <a:latin typeface="Open Sans"/>
              </a:rPr>
              <a:t>PERDIDO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2736" y="1874519"/>
            <a:ext cx="859536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993391"/>
            <a:ext cx="56692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TEL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874519"/>
            <a:ext cx="859536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993391"/>
            <a:ext cx="56692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CMD 14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788920"/>
            <a:ext cx="4480560" cy="0"/>
          </a:xfrm>
          <a:prstGeom prst="line">
            <a:avLst/>
          </a:prstGeom>
          <a:ln w="25400">
            <a:solidFill>
              <a:srgbClr val="B1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2907792"/>
            <a:ext cx="47548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B12D2D"/>
                </a:solidFill>
                <a:latin typeface="Open Sans"/>
              </a:rPr>
              <a:t>Mesmo que 13 e 14 cheguem, a aplicação espera o pacote 12 ser retransmitido.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280160"/>
            <a:ext cx="5257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67E4F"/>
                </a:solidFill>
                <a:latin typeface="Open Sans"/>
              </a:rPr>
              <a:t>QUIC-LITE · CANAIS INDEPENDENTES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1325880" cy="310896"/>
          </a:xfrm>
          <a:prstGeom prst="roundRect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837943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CONFIÁVEL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737360"/>
            <a:ext cx="10972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4" y="1856231"/>
            <a:ext cx="80467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CMD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737360"/>
            <a:ext cx="10972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856231"/>
            <a:ext cx="80467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CMD 11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15400" y="2066543"/>
            <a:ext cx="173736" cy="0"/>
          </a:xfrm>
          <a:prstGeom prst="line">
            <a:avLst/>
          </a:prstGeom>
          <a:ln w="2540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309360" y="2907792"/>
            <a:ext cx="1325880" cy="310896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1693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NÃO CONF.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816352"/>
            <a:ext cx="10972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64424" y="2935224"/>
            <a:ext cx="80467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TEL 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816352"/>
            <a:ext cx="10972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2935224"/>
            <a:ext cx="80467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12D2D"/>
                </a:solidFill>
                <a:latin typeface="Open Sans"/>
              </a:rPr>
              <a:t>PERDEU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2816352"/>
            <a:ext cx="10972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24744" y="2935224"/>
            <a:ext cx="80467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TEL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822191"/>
            <a:ext cx="498348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67E4F"/>
                </a:solidFill>
                <a:latin typeface="Open Sans"/>
              </a:rPr>
              <a:t>A perda de telemetria não bloqueia comandos; o próximo estado substitui o anterior. No canal confiável, somente a sequência daquele peer aguarda.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4937760"/>
            <a:ext cx="9875520" cy="82296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9304" y="5056632"/>
            <a:ext cx="9582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11111"/>
                </a:solidFill>
                <a:latin typeface="Open Sans"/>
              </a:rPr>
              <a:t>IMPACTO OPERACIONAL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9304" y="5449824"/>
            <a:ext cx="9582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Controle responsivo e streaming fluido importam mais que recuperar um frame ou uma leitura de sensor já obsoleta.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quiclite.Endpoint._recv_loop(), send_reliable(), send_unreliable() e _retransmit_loop().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Dois canais sobre o mesmo socket UDP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A escolha acontece mensagem a mensagem.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298448"/>
            <a:ext cx="5303520" cy="4407408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17319"/>
            <a:ext cx="5010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CANAL CONFIÁVEL + ORDENADO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5010912" cy="3803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Mecanismo
seq por peer · ACK · buffer fora de ordem · retransmissão após 0,4 s
Mensagens
register · registered · auth_challenge · auth_response · auth_ok/auth_fail · control_granted/denied · command · release_control · rov_offline · error · replicate
Sem limite de tentativas enquanto o peer existir.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98448"/>
            <a:ext cx="5303520" cy="4407408"/>
          </a:xfrm>
          <a:prstGeom prst="roundRect">
            <a:avLst/>
          </a:prstGeom>
          <a:solidFill>
            <a:srgbClr val="F3F4F5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1656" y="1417319"/>
            <a:ext cx="50109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CANAL NÃO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810512"/>
            <a:ext cx="5010912" cy="38039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Mecanismo
Datagrama único · seq = 0 · sem ACK · sem reenvio · entrega imediata
Mensagens
telemetry · heartbeat · relay_heartbeat · relay_ping
Princípio
São eventos periódicos: se um se perde, o próximo contém estado mais novo.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943600"/>
            <a:ext cx="101041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Open Sans"/>
              </a:rPr>
              <a:t>A confiabilidade é por endpoint remoto: o relay mantém estado separado para cada piloto, ROV e relay par.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protocol.py (classificação das mensagens) e quiclite.py (Peer/Endpoint).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Protocolo no fio: 5 bytes + JSON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25880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59A0"/>
                </a:solidFill>
                <a:latin typeface="Open Sans"/>
              </a:rPr>
              <a:t>CABEÇALHO BINÁRIO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1828800" cy="1078992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874519"/>
            <a:ext cx="15361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BYTE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67712"/>
            <a:ext cx="1536192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tipo
0 conf. · 1 não conf. · 2 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1755648"/>
            <a:ext cx="2971800" cy="1078992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874519"/>
            <a:ext cx="26791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BYTES 1…4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267712"/>
            <a:ext cx="2679192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sequência uint32
big-endian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77256" y="1755648"/>
            <a:ext cx="6062472" cy="1078992"/>
          </a:xfrm>
          <a:prstGeom prst="roundRect">
            <a:avLst/>
          </a:prstGeom>
          <a:solidFill>
            <a:srgbClr val="F3F4F5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874519"/>
            <a:ext cx="5769864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BYTES 5…N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267712"/>
            <a:ext cx="5769864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payload JSON em UTF-8
vazio para 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2971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67E4F"/>
                </a:solidFill>
                <a:latin typeface="Open Sans"/>
              </a:rPr>
              <a:t>EXEMPLOS DE PAYLOAD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342900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685032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COMANDO · CONFIÁVEL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78224"/>
            <a:ext cx="3136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{"type":"command",
 "action":"thruster_frente","value":80}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3566160"/>
            <a:ext cx="342900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F63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685032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5F6368"/>
                </a:solidFill>
                <a:latin typeface="Open Sans"/>
              </a:rPr>
              <a:t>TELEMETRIA · NÃO CONF.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4078224"/>
            <a:ext cx="3136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{"type":"telemetry","battery":99.1,
 "depth":0.24,"temperature":18.2}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3566160"/>
            <a:ext cx="342900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3685032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078224"/>
            <a:ext cx="313639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tipo = 2
seq = pacote confirmado
payload = vazio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02352"/>
            <a:ext cx="106070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Recepção confiável: confirma inclusive duplicatas; entrega somente a partir de recv_expected.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  <a:defRPr sz="1400" b="0">
                <a:solidFill>
                  <a:srgbClr val="111111"/>
                </a:solidFill>
                <a:latin typeface="Open Sans"/>
              </a:defRPr>
            </a:pPr>
            <a:r>
              <a:rPr sz="1400" b="0">
                <a:solidFill>
                  <a:srgbClr val="111111"/>
                </a:solidFill>
                <a:latin typeface="Open Sans"/>
              </a:rPr>
              <a:t>• JSON inválido ou UTF-8 inválido é descartado; tamanho máximo recebido: 65.535 bytes.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quiclite.py — HEADER = struct.Struct('!BI'), _decode() e recvfrom(65535).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Autenticação: desafio–resposta HMAC-SHA256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A senha não é enviada; o relay só concede controle após autenticação.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60120" y="1280160"/>
            <a:ext cx="1920240" cy="310896"/>
          </a:xfrm>
          <a:prstGeom prst="roundRect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2893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PILOTO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627632"/>
            <a:ext cx="0" cy="4133088"/>
          </a:xfrm>
          <a:prstGeom prst="line">
            <a:avLst/>
          </a:prstGeom>
          <a:ln w="15240">
            <a:solidFill>
              <a:srgbClr val="1659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59552" y="1280160"/>
            <a:ext cx="1920240" cy="310896"/>
          </a:xfrm>
          <a:prstGeom prst="roundRect">
            <a:avLst/>
          </a:prstGeom>
          <a:solidFill>
            <a:srgbClr val="008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59552" y="1289304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RELAY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19672" y="1627632"/>
            <a:ext cx="0" cy="4133088"/>
          </a:xfrm>
          <a:prstGeom prst="line">
            <a:avLst/>
          </a:prstGeom>
          <a:ln w="15240">
            <a:solidFill>
              <a:srgbClr val="0086B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20240" y="1874519"/>
            <a:ext cx="3566160" cy="0"/>
          </a:xfrm>
          <a:prstGeom prst="line">
            <a:avLst/>
          </a:prstGeom>
          <a:ln w="2286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3120" y="1618487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659A0"/>
                </a:solidFill>
                <a:latin typeface="Open Sans"/>
              </a:rPr>
              <a:t>1  register(role=pilot, id, target)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880360" y="2267712"/>
            <a:ext cx="2606040" cy="0"/>
          </a:xfrm>
          <a:prstGeom prst="line">
            <a:avLst/>
          </a:prstGeom>
          <a:ln w="22860">
            <a:solidFill>
              <a:srgbClr val="008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63240" y="2011680"/>
            <a:ext cx="2240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0086B3"/>
                </a:solidFill>
                <a:latin typeface="Open Sans"/>
              </a:rPr>
              <a:t>2  registered + auth_challenge(nonce 128 bits)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2852928"/>
            <a:ext cx="3566160" cy="0"/>
          </a:xfrm>
          <a:prstGeom prst="line">
            <a:avLst/>
          </a:prstGeom>
          <a:ln w="2286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2596896"/>
            <a:ext cx="3200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659A0"/>
                </a:solidFill>
                <a:latin typeface="Open Sans"/>
              </a:rPr>
              <a:t>3  auth_response = HMAC-SHA256(senha, nonce)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880360" y="3429000"/>
            <a:ext cx="2606040" cy="0"/>
          </a:xfrm>
          <a:prstGeom prst="line">
            <a:avLst/>
          </a:prstGeom>
          <a:ln w="22860">
            <a:solidFill>
              <a:srgbClr val="008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63240" y="3172968"/>
            <a:ext cx="2240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0086B3"/>
                </a:solidFill>
                <a:latin typeface="Open Sans"/>
              </a:rPr>
              <a:t>4  compare_digest(esperado, recebido)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880360" y="4023360"/>
            <a:ext cx="2606040" cy="0"/>
          </a:xfrm>
          <a:prstGeom prst="line">
            <a:avLst/>
          </a:prstGeom>
          <a:ln w="22860">
            <a:solidFill>
              <a:srgbClr val="267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3240" y="3767328"/>
            <a:ext cx="2240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267E4F"/>
                </a:solidFill>
                <a:latin typeface="Open Sans"/>
              </a:rPr>
              <a:t>5  auth_ok(token 128 bits) ou auth_fail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880360" y="4608576"/>
            <a:ext cx="2606040" cy="0"/>
          </a:xfrm>
          <a:prstGeom prst="line">
            <a:avLst/>
          </a:prstGeom>
          <a:ln w="22860">
            <a:solidFill>
              <a:srgbClr val="267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3240" y="4352544"/>
            <a:ext cx="22402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267E4F"/>
                </a:solidFill>
                <a:latin typeface="Open Sans"/>
              </a:rPr>
              <a:t>6  control_granted / control_denied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298448"/>
            <a:ext cx="2834640" cy="443484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87384" y="1417319"/>
            <a:ext cx="254203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6518"/>
                </a:solidFill>
                <a:latin typeface="Open Sans"/>
              </a:rPr>
              <a:t>PROPRIEDADES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7384" y="1810512"/>
            <a:ext cx="2542032" cy="38313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• Nonce aleatório por registro
• Replay de resposta antiga falha
• Comparação em tempo constante
• Piloto desconhecido é recusado
• Token opaco identifica a sessão
Atenção: o token é emitido e armazenado, mas não é exigido nos comandos.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protocol.py e relay_server.py::_handle_register/_handle_auth; pilot_client.py::_on_message.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“Banco” de credenciais: adequado apenas à demonstração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325880"/>
            <a:ext cx="4800600" cy="3337560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C4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444752"/>
            <a:ext cx="4507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6518"/>
                </a:solidFill>
                <a:latin typeface="Open Sans"/>
              </a:rPr>
              <a:t>IMPLEMENTAÇÃO ATUAL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37943"/>
            <a:ext cx="4507992" cy="2734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PILOT_CREDENTIALS = {
  "pilotoA": "mergulho2026",
  "pilotoB": "trocaraki"
}
Os dois relays carregam a mesma tabela para poder autenticar após o failover.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325880"/>
            <a:ext cx="5440680" cy="3337560"/>
          </a:xfrm>
          <a:prstGeom prst="roundRect">
            <a:avLst/>
          </a:prstGeom>
          <a:solidFill>
            <a:srgbClr val="EEF7F1"/>
          </a:solidFill>
          <a:ln w="15240">
            <a:solidFill>
              <a:srgbClr val="26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35624" y="1444752"/>
            <a:ext cx="51480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SISTEMA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1837943"/>
            <a:ext cx="5148072" cy="2734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• Serviço de identidade ou banco protegido
• Senhas com hash lento + salt (Argon2id/bcrypt/scrypt)
• Segredos fora do código e com rotação
• Controle de acesso, auditoria e rate limiting
• Replicação segura/consistente das identidades
• TLS/mTLS para confidencialidade e identidade do relay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332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B12D2D"/>
                </a:solidFill>
                <a:latin typeface="Open Sans"/>
              </a:rPr>
              <a:t>O HMAC evita transmitir a senha, mas não corrige senha em texto puro no código, senha fraca, ataque offline após captura do desafio/resposta ou ausência de canal autenticado.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protocol.py::PILOT_CREDENTIALS. Credenciais incluídas aqui apenas para documentar fielmente a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Detecção de falhas e failover do 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Os timeouts foram ordenados para o backup assumir antes da migração dos clientes.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2286000"/>
            <a:ext cx="9509760" cy="0"/>
          </a:xfrm>
          <a:prstGeom prst="line">
            <a:avLst/>
          </a:prstGeom>
          <a:ln w="279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2020824"/>
            <a:ext cx="530352" cy="530352"/>
          </a:xfrm>
          <a:prstGeom prst="ellipse">
            <a:avLst/>
          </a:prstGeom>
          <a:solidFill>
            <a:srgbClr val="267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0759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67E4F"/>
                </a:solidFill>
                <a:latin typeface="Open Sans"/>
              </a:rPr>
              <a:t>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1280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11111"/>
                </a:solidFill>
                <a:latin typeface="Open Sans"/>
              </a:rPr>
              <a:t>relay_ping / relay_heartbeat
cada 1 s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2020824"/>
            <a:ext cx="530352" cy="530352"/>
          </a:xfrm>
          <a:prstGeom prst="ellipse">
            <a:avLst/>
          </a:prstGeom>
          <a:solidFill>
            <a:srgbClr val="C46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30759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C46518"/>
                </a:solidFill>
                <a:latin typeface="Open Sans"/>
              </a:rPr>
              <a:t>2,5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697480"/>
            <a:ext cx="1280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11111"/>
                </a:solidFill>
                <a:latin typeface="Open Sans"/>
              </a:rPr>
              <a:t>backup detecta silêncio
e torna-se ATIVO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0" y="2020824"/>
            <a:ext cx="530352" cy="530352"/>
          </a:xfrm>
          <a:prstGeom prst="ellipse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30759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59A0"/>
                </a:solidFill>
                <a:latin typeface="Open Sans"/>
              </a:rPr>
              <a:t>6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697480"/>
            <a:ext cx="1280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11111"/>
                </a:solidFill>
                <a:latin typeface="Open Sans"/>
              </a:rPr>
              <a:t>piloto/ROV detectam silêncio
e migram</a:t>
            </a:r>
          </a:p>
        </p:txBody>
      </p:sp>
      <p:sp>
        <p:nvSpPr>
          <p:cNvPr id="16" name="Oval 15"/>
          <p:cNvSpPr/>
          <p:nvPr/>
        </p:nvSpPr>
        <p:spPr>
          <a:xfrm>
            <a:off x="8275320" y="2020824"/>
            <a:ext cx="530352" cy="530352"/>
          </a:xfrm>
          <a:prstGeom prst="ellipse">
            <a:avLst/>
          </a:prstGeom>
          <a:solidFill>
            <a:srgbClr val="008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307592"/>
            <a:ext cx="7498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086B3"/>
                </a:solidFill>
                <a:latin typeface="Open Sans"/>
              </a:rPr>
              <a:t>≤ 12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697480"/>
            <a:ext cx="12801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50" b="0">
                <a:solidFill>
                  <a:srgbClr val="111111"/>
                </a:solidFill>
                <a:latin typeface="Open Sans"/>
              </a:rPr>
              <a:t>reserva preserva o dono
anterior do ROV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22191"/>
            <a:ext cx="338328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3941063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CLIENTES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334256"/>
            <a:ext cx="309067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heartbeat a cada 1 s; relay remove cliente após 6 s sem mensagem. Qualquer mensagem atualiza last_seen.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822191"/>
            <a:ext cx="338328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3941063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086B3"/>
                </a:solidFill>
                <a:latin typeface="Open Sans"/>
              </a:rPr>
              <a:t>REPLICAÇÃO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334256"/>
            <a:ext cx="309067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Primário envia rov_up/down, pilot_up/down e control pelo canal confiável. Backup mantém estado-espelho.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6" y="3822191"/>
            <a:ext cx="3383280" cy="1417320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3941063"/>
            <a:ext cx="30906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RECUPERAÇÃO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334256"/>
            <a:ext cx="3090672" cy="8138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Clientes removem o peer morto, alternam relay e se registram de novo; o piloto refaz a autenticação.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744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B12D2D"/>
                </a:solidFill>
                <a:latin typeface="Open Sans"/>
              </a:rPr>
              <a:t>Sem consenso/split-brain protection: é um esquema primário–backup didático, não uma implantação distribuída completa.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relay_server.py (timeouts, replicação, reserva); pilot_client.py e rov_simulator.py (failover).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Segurança e robustez: o que existe — e o que falta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280160"/>
            <a:ext cx="3429000" cy="4526280"/>
          </a:xfrm>
          <a:prstGeom prst="roundRect">
            <a:avLst/>
          </a:prstGeom>
          <a:solidFill>
            <a:srgbClr val="EEF7F1"/>
          </a:solidFill>
          <a:ln w="15240">
            <a:solidFill>
              <a:srgbClr val="26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99031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CONTROLES IMPLEMENTADOS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792224"/>
            <a:ext cx="3136392" cy="3922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✓ HMAC-SHA256 desafio–resposta
✓ nonce aleatório de 128 bits
✓ token de sessão aleatório
✓ compare_digest contra timing
✓ autenticação antes do comando
✓ exclusão mútua por ROV
✓ duplicatas confiáveis não são reaplicadas
✓ JSON corrompido é ignorado
✓ liveness + failover + reserva de posse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4526280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1399031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ATAQUES MITIGADOS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792224"/>
            <a:ext cx="3136392" cy="3922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• Replay simples da autenticação
• Senha em trânsito
• Piloto não cadastrado
• Corrida normal entre pilotos
• Perda, duplicação e reordenação de datagramas confiáveis
• Falha silenciosa de clientes
• Queda do relay primário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280160"/>
            <a:ext cx="3429000" cy="4526280"/>
          </a:xfrm>
          <a:prstGeom prst="roundRect">
            <a:avLst/>
          </a:prstGeom>
          <a:solidFill>
            <a:srgbClr val="FCEEEE"/>
          </a:solidFill>
          <a:ln w="15240">
            <a:solidFill>
              <a:srgbClr val="B1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399031"/>
            <a:ext cx="31363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12D2D"/>
                </a:solidFill>
                <a:latin typeface="Open Sans"/>
              </a:rPr>
              <a:t>LACUNAS PARA 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1792224"/>
            <a:ext cx="3136392" cy="3922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✕ tráfego sem criptografia/TLS
✕ relay não autenticado
✕ comandos não carregam/validam token
✕ sem integridade HMAC por pacote
✕ sem expiração/revogação de token
✕ sem rate limiting / anti-DoS
✕ sem limite de buffers e retransmissões
✕ credenciais em texto puro
✕ sem consenso contra split-brain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Análise baseada em protocol.py, quiclite.py e relay_server.py. As lacunas são inferências diretas do código.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Tkinter: visualização sem alterar a rede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A lógica é separada da interface; os testes rodam headless.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298448"/>
            <a:ext cx="3246120" cy="43708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417319"/>
            <a:ext cx="29535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MULTI-JANELA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810512"/>
            <a:ext cx="2953512" cy="3767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run_demo.py
Cada nó em um processo e uma janela nativa. Reforça a separação entre hosts e mantém comunicação por UDP.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298448"/>
            <a:ext cx="3246120" cy="43708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17319"/>
            <a:ext cx="29535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086B3"/>
                </a:solidFill>
                <a:latin typeface="Open Sans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810512"/>
            <a:ext cx="2953512" cy="3767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demo_dashboard.py
Mesmos nós como threads no mesmo processo, ainda via sockets UDP no loopback. Mostra topologia, pacotes, perda e cena submarina.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98448"/>
            <a:ext cx="3246120" cy="4370832"/>
          </a:xfrm>
          <a:prstGeom prst="roundRect">
            <a:avLst/>
          </a:prstGeom>
          <a:solidFill>
            <a:srgbClr val="F2F4F7"/>
          </a:solidFill>
          <a:ln w="15240">
            <a:solidFill>
              <a:srgbClr val="D3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417319"/>
            <a:ext cx="29535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THREAD-SAFETY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1810512"/>
            <a:ext cx="2953512" cy="3767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gui_common.py
Threads de rede colocam eventos em queue.Queue; a thread principal drena a fila com .after(80 ms). Widgets nunca são atualizados diretamente pela rede.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5166360"/>
            <a:ext cx="2331720" cy="310896"/>
          </a:xfrm>
          <a:prstGeom prst="roundRect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PROCESSOS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74720" y="5321808"/>
            <a:ext cx="1298448" cy="0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00600" y="5166360"/>
            <a:ext cx="2331720" cy="310896"/>
          </a:xfrm>
          <a:prstGeom prst="roundRect">
            <a:avLst/>
          </a:prstGeom>
          <a:solidFill>
            <a:srgbClr val="008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51755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UDP / LOOPBACK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5321808"/>
            <a:ext cx="1298448" cy="0"/>
          </a:xfrm>
          <a:prstGeom prst="line">
            <a:avLst/>
          </a:prstGeom>
          <a:ln w="228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58200" y="5166360"/>
            <a:ext cx="2331720" cy="310896"/>
          </a:xfrm>
          <a:prstGeom prst="roundRect">
            <a:avLst/>
          </a:prstGeom>
          <a:solidFill>
            <a:srgbClr val="267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5175504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EVENTOS →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61888"/>
            <a:ext cx="10378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Open Sans"/>
              </a:rPr>
              <a:t>Demonstração: conectar piloto · comandar · adicionar concorrente · simular perda · derrubar primário.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Código: gui_common.py, run_demo.py, demo_dashboard.py e classes *Node sem dependência de UI.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59A0"/>
                </a:solidFill>
                <a:latin typeface="Open San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82880"/>
            <a:ext cx="106984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11111"/>
                </a:solidFill>
                <a:latin typeface="Open Sans"/>
              </a:rPr>
              <a:t>Visão completa do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658368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368"/>
                </a:solidFill>
                <a:latin typeface="Open Sans"/>
              </a:rPr>
              <a:t>Fluxo normal, canais, autenticação, replicação e failover em uma única vista.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11183112" cy="0"/>
          </a:xfrm>
          <a:prstGeom prst="line">
            <a:avLst/>
          </a:prstGeom>
          <a:ln w="10160">
            <a:solidFill>
              <a:srgbClr val="D3D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847088"/>
            <a:ext cx="2103120" cy="1234440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965960"/>
            <a:ext cx="181051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PILOTO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359152"/>
            <a:ext cx="1810511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auth ✓
controla rov1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96512"/>
            <a:ext cx="2103120" cy="1234440"/>
          </a:xfrm>
          <a:prstGeom prst="roundRect">
            <a:avLst/>
          </a:prstGeom>
          <a:solidFill>
            <a:srgbClr val="EAF2FA"/>
          </a:solidFill>
          <a:ln w="15240">
            <a:solidFill>
              <a:srgbClr val="165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215384"/>
            <a:ext cx="1810511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659A0"/>
                </a:solidFill>
                <a:latin typeface="Open Sans"/>
              </a:rPr>
              <a:t>PILOTO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4608576"/>
            <a:ext cx="1810511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auth ✓
controle negado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298448"/>
            <a:ext cx="2743200" cy="1389888"/>
          </a:xfrm>
          <a:prstGeom prst="roundRect">
            <a:avLst/>
          </a:prstGeom>
          <a:solidFill>
            <a:srgbClr val="EEF7F1"/>
          </a:solidFill>
          <a:ln w="15240">
            <a:solidFill>
              <a:srgbClr val="267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417319"/>
            <a:ext cx="2450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67E4F"/>
                </a:solidFill>
                <a:latin typeface="Open Sans"/>
              </a:rPr>
              <a:t>RELAY PRIMÁRIO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810512"/>
            <a:ext cx="2450592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:5000 · ativo
sessões + arbitragem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498848"/>
            <a:ext cx="2743200" cy="1389888"/>
          </a:xfrm>
          <a:prstGeom prst="roundRect">
            <a:avLst/>
          </a:prstGeom>
          <a:solidFill>
            <a:srgbClr val="FFF4E8"/>
          </a:solidFill>
          <a:ln w="15240">
            <a:solidFill>
              <a:srgbClr val="C4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4617720"/>
            <a:ext cx="24505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46518"/>
                </a:solidFill>
                <a:latin typeface="Open Sans"/>
              </a:rPr>
              <a:t>RELAY BACKUP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5010912"/>
            <a:ext cx="2450592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:5001 · espelho
assume após 2,5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596896"/>
            <a:ext cx="2487168" cy="1600200"/>
          </a:xfrm>
          <a:prstGeom prst="roundRect">
            <a:avLst/>
          </a:prstGeom>
          <a:solidFill>
            <a:srgbClr val="EEF7F1"/>
          </a:solidFill>
          <a:ln w="15240">
            <a:solidFill>
              <a:srgbClr val="008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6024" y="2715768"/>
            <a:ext cx="2194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086B3"/>
                </a:solidFill>
                <a:latin typeface="Open Sans"/>
              </a:rPr>
              <a:t>ROV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3108960"/>
            <a:ext cx="2194560" cy="99669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111111"/>
                </a:solidFill>
                <a:latin typeface="Open Sans"/>
              </a:rPr>
              <a:t>sensores + thrusters
telemetria a cada 1,5 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606040" y="1874519"/>
            <a:ext cx="1965960" cy="393193"/>
          </a:xfrm>
          <a:prstGeom prst="line">
            <a:avLst/>
          </a:prstGeom>
          <a:ln w="2794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51760" y="1572768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1659A0"/>
                </a:solidFill>
                <a:latin typeface="Open Sans"/>
              </a:rPr>
              <a:t>registro · HMAC
comandos [CONF.]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606040" y="2359152"/>
            <a:ext cx="1965960" cy="2286000"/>
          </a:xfrm>
          <a:prstGeom prst="line">
            <a:avLst/>
          </a:prstGeom>
          <a:ln w="19050">
            <a:solidFill>
              <a:srgbClr val="1659A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71800" y="3703320"/>
            <a:ext cx="1417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1659A0"/>
                </a:solidFill>
                <a:latin typeface="Open Sans"/>
              </a:rPr>
              <a:t>autentica
mas não obtém posse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0" y="1965960"/>
            <a:ext cx="1874520" cy="1078992"/>
          </a:xfrm>
          <a:prstGeom prst="line">
            <a:avLst/>
          </a:prstGeom>
          <a:ln w="27940">
            <a:solidFill>
              <a:srgbClr val="1659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06640" y="2057400"/>
            <a:ext cx="1572768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1659A0"/>
                </a:solidFill>
                <a:latin typeface="Open Sans"/>
              </a:rPr>
              <a:t>comando
[CONF.]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7315200" y="2359152"/>
            <a:ext cx="1874520" cy="1344168"/>
          </a:xfrm>
          <a:prstGeom prst="line">
            <a:avLst/>
          </a:prstGeom>
          <a:ln w="2794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24927" y="3364992"/>
            <a:ext cx="15544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5F6368"/>
                </a:solidFill>
                <a:latin typeface="Open Sans"/>
              </a:rPr>
              <a:t>telemetria
[NÃO CONF.]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0" y="2688336"/>
            <a:ext cx="0" cy="1810512"/>
          </a:xfrm>
          <a:prstGeom prst="line">
            <a:avLst/>
          </a:prstGeom>
          <a:ln w="27940">
            <a:solidFill>
              <a:srgbClr val="008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53912" y="3182112"/>
            <a:ext cx="16916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0086B3"/>
                </a:solidFill>
                <a:latin typeface="Open Sans"/>
              </a:rPr>
              <a:t>replicate [CONF.]
relay_ping [NÃO CONF.]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7315200" y="3886200"/>
            <a:ext cx="1874520" cy="1307592"/>
          </a:xfrm>
          <a:prstGeom prst="line">
            <a:avLst/>
          </a:prstGeom>
          <a:ln w="20320">
            <a:solidFill>
              <a:srgbClr val="C4651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2606040" y="5029200"/>
            <a:ext cx="1965960" cy="164592"/>
          </a:xfrm>
          <a:prstGeom prst="line">
            <a:avLst/>
          </a:prstGeom>
          <a:ln w="20320">
            <a:solidFill>
              <a:srgbClr val="C4651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35240" y="4617720"/>
            <a:ext cx="12344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50" b="1">
                <a:solidFill>
                  <a:srgbClr val="C46518"/>
                </a:solidFill>
                <a:latin typeface="Open Sans"/>
              </a:rPr>
              <a:t>failover
+ re-registro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016752"/>
            <a:ext cx="1874519" cy="310896"/>
          </a:xfrm>
          <a:prstGeom prst="roundRect">
            <a:avLst/>
          </a:prstGeom>
          <a:solidFill>
            <a:srgbClr val="165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25896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CONF. · ACK + RETX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6016752"/>
            <a:ext cx="2148840" cy="310896"/>
          </a:xfrm>
          <a:prstGeom prst="round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6025896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NÃO CONF. · ÚLTIMO VENCE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6016752"/>
            <a:ext cx="1901952" cy="310896"/>
          </a:xfrm>
          <a:prstGeom prst="roundRect">
            <a:avLst/>
          </a:prstGeom>
          <a:solidFill>
            <a:srgbClr val="267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6025896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HMAC + NONCE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51192" y="6016752"/>
            <a:ext cx="1920240" cy="310896"/>
          </a:xfrm>
          <a:prstGeom prst="roundRect">
            <a:avLst/>
          </a:prstGeom>
          <a:solidFill>
            <a:srgbClr val="C46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51192" y="602589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FAILOVER · 6 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00032" y="6016752"/>
            <a:ext cx="1993392" cy="310896"/>
          </a:xfrm>
          <a:prstGeom prst="roundRect">
            <a:avLst/>
          </a:prstGeom>
          <a:solidFill>
            <a:srgbClr val="008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00032" y="6025896"/>
            <a:ext cx="19933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Open Sans"/>
              </a:rPr>
              <a:t>RESERVA · 12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6537960"/>
            <a:ext cx="111556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Open Sans"/>
              </a:rPr>
              <a:t>Síntese do código: quiclite.py, protocol.py, relay_server.py, pilot_client.py e rov_simulator.py.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distribuído de ROVs</dc:title>
  <dc:subject>Arquitetura, protocolo QUIC-lite, segurança e tolerância a falhas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